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8" r:id="rId2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7"/>
    <p:sldId id="279" r:id="rId6"/>
    <p:sldId id="280" r:id="rId5"/>
    <p:sldId id="281" r:id="rId4"/>
    <p:sldId id="282" r:id="rId3"/>
    <p:sldId id="283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387" y="7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342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774954"/>
            <a:ext cx="6858000" cy="1858518"/>
          </a:xfrm>
        </p:spPr>
        <p:txBody>
          <a:bodyPr lIns="0" tIns="0" rIns="0" bIns="0" anchor="b">
            <a:noAutofit/>
          </a:bodyPr>
          <a:lstStyle>
            <a:lvl1pPr algn="ctr">
              <a:defRPr sz="3000" spc="563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66644"/>
            <a:ext cx="6858000" cy="1076706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 cap="all" spc="45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Tuesday, July 21,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114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576" y="3406940"/>
            <a:ext cx="3065707" cy="1456674"/>
          </a:xfrm>
        </p:spPr>
        <p:txBody>
          <a:bodyPr vert="horz" lIns="68580" tIns="34290" rIns="68580" bIns="34290" rtlCol="0" anchor="t">
            <a:noAutofit/>
          </a:bodyPr>
          <a:lstStyle/>
          <a:p>
            <a:pPr algn="l">
              <a:lnSpc>
                <a:spcPct val="140000"/>
              </a:lnSpc>
            </a:pPr>
            <a:endParaRPr lang="en-US" sz="1050">
              <a:latin typeface="TW Cen MT"/>
              <a:ea typeface="Calibri"/>
              <a:cs typeface="Times New Roman"/>
            </a:endParaRPr>
          </a:p>
          <a:p>
            <a:pPr algn="l">
              <a:lnSpc>
                <a:spcPct val="140000"/>
              </a:lnSpc>
            </a:pPr>
            <a:r>
              <a:rPr lang="en-US" sz="1050"/>
              <a:t>                         </a:t>
            </a:r>
          </a:p>
        </p:txBody>
      </p:sp>
      <p:pic>
        <p:nvPicPr>
          <p:cNvPr id="4" name="Picture 3" descr="A red and blue logo with a star and text&#10;&#10;AI-generated content may be incorrect.">
            <a:extLst>
              <a:ext uri="{FF2B5EF4-FFF2-40B4-BE49-F238E27FC236}">
                <a16:creationId xmlns:a16="http://schemas.microsoft.com/office/drawing/2014/main" id="{419D8AD0-3970-42BD-8D0B-83797AF58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970" y="1290230"/>
            <a:ext cx="1451640" cy="12925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D6ED7D-0445-C3CF-817B-2A7A3D258B01}"/>
              </a:ext>
            </a:extLst>
          </p:cNvPr>
          <p:cNvSpPr txBox="1"/>
          <p:nvPr/>
        </p:nvSpPr>
        <p:spPr>
          <a:xfrm>
            <a:off x="5672920" y="3525060"/>
            <a:ext cx="3079878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>
                <a:latin typeface="Times New Roman"/>
                <a:cs typeface="Times New Roman"/>
              </a:rPr>
              <a:t>SUBMITTED TO:</a:t>
            </a:r>
          </a:p>
          <a:p>
            <a:endParaRPr lang="en-US" sz="1350">
              <a:latin typeface="Times New Roman"/>
              <a:cs typeface="Times New Roman"/>
            </a:endParaRPr>
          </a:p>
          <a:p>
            <a:r>
              <a:rPr lang="en-US" sz="1350">
                <a:latin typeface="Times New Roman"/>
                <a:cs typeface="Times New Roman"/>
              </a:rPr>
              <a:t>Faculty of Science and Technology, Purbanchal University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179B31-4B66-8835-7724-EC2FC8FC4C0A}"/>
              </a:ext>
            </a:extLst>
          </p:cNvPr>
          <p:cNvSpPr txBox="1"/>
          <p:nvPr/>
        </p:nvSpPr>
        <p:spPr>
          <a:xfrm>
            <a:off x="703862" y="3406688"/>
            <a:ext cx="3079878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dirty="0">
                <a:latin typeface="Times New Roman"/>
                <a:cs typeface="Times New Roman"/>
              </a:rPr>
              <a:t>SUBMITTED BY:</a:t>
            </a:r>
          </a:p>
          <a:p>
            <a:endParaRPr lang="en-US" sz="1350" dirty="0">
              <a:latin typeface="Times New Roman"/>
              <a:cs typeface="Times New Roman"/>
            </a:endParaRPr>
          </a:p>
          <a:p>
            <a:pPr marL="214313" indent="-214313">
              <a:buFont typeface="Arial"/>
              <a:buChar char="•"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Khum Bahadur Bista [341695]</a:t>
            </a:r>
            <a:endParaRPr lang="en-US" sz="1350" dirty="0">
              <a:latin typeface="Tw Cen MT"/>
              <a:cs typeface="Times New Roman"/>
            </a:endParaRPr>
          </a:p>
          <a:p>
            <a:pPr marL="214313" indent="-214313">
              <a:buFont typeface="Arial"/>
              <a:buChar char="•"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Prajum Bhaila [341702]</a:t>
            </a:r>
          </a:p>
          <a:p>
            <a:pPr marL="214313" indent="-214313">
              <a:buFont typeface="Arial"/>
              <a:buChar char="•"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pitchFamily="18" charset="0"/>
                <a:ea typeface="Roboto Medium" pitchFamily="34" charset="-122"/>
                <a:cs typeface="Times New Roman" panose="02020603050405020304" pitchFamily="18" charset="0"/>
              </a:rPr>
              <a:t>Shilbiya Rai [341715]</a:t>
            </a:r>
            <a:endParaRPr lang="en-US" sz="1350" dirty="0">
              <a:latin typeface="Tw Cen MT"/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889A2E-A1FE-CAF7-B804-D673DF09A434}"/>
              </a:ext>
            </a:extLst>
          </p:cNvPr>
          <p:cNvSpPr txBox="1"/>
          <p:nvPr/>
        </p:nvSpPr>
        <p:spPr>
          <a:xfrm>
            <a:off x="1962216" y="2599163"/>
            <a:ext cx="5423148" cy="5616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cap="all" dirty="0">
                <a:latin typeface="Times New Roman"/>
              </a:rPr>
              <a:t>A Presentation On: INVENTORY MANAGEMENT SYSTEM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13979E-E187-3309-C92C-54E71A12B3B7}"/>
              </a:ext>
            </a:extLst>
          </p:cNvPr>
          <p:cNvSpPr txBox="1"/>
          <p:nvPr/>
        </p:nvSpPr>
        <p:spPr>
          <a:xfrm>
            <a:off x="769434" y="358234"/>
            <a:ext cx="7270595" cy="9156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688"/>
              </a:lnSpc>
            </a:pPr>
            <a:r>
              <a:rPr lang="en-US" sz="1650" b="1" cap="all" dirty="0">
                <a:solidFill>
                  <a:srgbClr val="333333"/>
                </a:solidFill>
                <a:latin typeface="Times New Roman"/>
                <a:cs typeface="Segoe UI"/>
              </a:rPr>
              <a:t>PURBANCHAL UNIVERSITY INSTITUTE OF SCIENCE </a:t>
            </a:r>
            <a:endParaRPr lang="en-US" sz="1650" dirty="0"/>
          </a:p>
          <a:p>
            <a:pPr algn="ctr">
              <a:lnSpc>
                <a:spcPts val="1688"/>
              </a:lnSpc>
            </a:pPr>
            <a:r>
              <a:rPr lang="en-US" sz="1650" b="1" cap="all" dirty="0">
                <a:solidFill>
                  <a:srgbClr val="333333"/>
                </a:solidFill>
                <a:latin typeface="Times New Roman"/>
                <a:cs typeface="Segoe UI"/>
              </a:rPr>
              <a:t>AND TECHNOLOGY</a:t>
            </a:r>
            <a:r>
              <a:rPr lang="en-US" sz="1650" dirty="0">
                <a:latin typeface="Times New Roman"/>
                <a:cs typeface="Segoe UI"/>
              </a:rPr>
              <a:t>​</a:t>
            </a:r>
            <a:br>
              <a:rPr lang="en-US" sz="1650" dirty="0">
                <a:latin typeface="Times New Roman"/>
                <a:cs typeface="Segoe UI"/>
              </a:rPr>
            </a:br>
            <a:r>
              <a:rPr lang="en-US" sz="1500" dirty="0">
                <a:cs typeface="Segoe UI"/>
              </a:rPr>
              <a:t>​</a:t>
            </a:r>
            <a:endParaRPr lang="en-US" sz="1350" dirty="0"/>
          </a:p>
          <a:p>
            <a:pPr algn="ctr">
              <a:lnSpc>
                <a:spcPts val="1519"/>
              </a:lnSpc>
            </a:pPr>
            <a:r>
              <a:rPr lang="en-US" sz="1350" b="1" cap="all" dirty="0" err="1">
                <a:solidFill>
                  <a:srgbClr val="333333"/>
                </a:solidFill>
                <a:latin typeface="Times New Roman"/>
                <a:cs typeface="Segoe UI"/>
              </a:rPr>
              <a:t>KISt</a:t>
            </a:r>
            <a:r>
              <a:rPr lang="en-US" sz="1350" b="1" cap="all" dirty="0">
                <a:solidFill>
                  <a:srgbClr val="333333"/>
                </a:solidFill>
                <a:latin typeface="Times New Roman"/>
                <a:cs typeface="Segoe UI"/>
              </a:rPr>
              <a:t> COLLEGE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  <a:cs typeface="Times New Roman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3840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33A0"/>
                </a:solidFill>
                <a:latin typeface="Times New Roman"/>
                <a:cs typeface="Times New Roman"/>
              </a:rPr>
              <a:t>01  </a:t>
            </a: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Introduction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33A0"/>
                </a:solidFill>
                <a:latin typeface="Times New Roman"/>
                <a:cs typeface="Times New Roman"/>
              </a:rPr>
              <a:t>02  </a:t>
            </a: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Problem Statement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33A0"/>
                </a:solidFill>
                <a:latin typeface="Times New Roman"/>
                <a:cs typeface="Times New Roman"/>
              </a:rPr>
              <a:t>03  </a:t>
            </a: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Objectives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33A0"/>
                </a:solidFill>
                <a:latin typeface="Times New Roman"/>
                <a:cs typeface="Times New Roman"/>
              </a:rPr>
              <a:t>04  </a:t>
            </a: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Scope and Limitations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33A0"/>
                </a:solidFill>
                <a:latin typeface="Times New Roman"/>
                <a:cs typeface="Times New Roman"/>
              </a:rPr>
              <a:t>05  </a:t>
            </a: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Methodology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33A0"/>
                </a:solidFill>
                <a:latin typeface="Times New Roman"/>
                <a:cs typeface="Times New Roman"/>
              </a:rPr>
              <a:t>06  </a:t>
            </a: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33A0"/>
                </a:solidFill>
                <a:latin typeface="Times New Roman"/>
                <a:cs typeface="Times New Roman"/>
              </a:rPr>
              <a:t>07  </a:t>
            </a: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System Analysis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33A0"/>
                </a:solidFill>
                <a:latin typeface="Times New Roman"/>
                <a:cs typeface="Times New Roman"/>
              </a:rPr>
              <a:t>08  </a:t>
            </a: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System Design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33A0"/>
                </a:solidFill>
                <a:latin typeface="Times New Roman"/>
                <a:cs typeface="Times New Roman"/>
              </a:rPr>
              <a:t>09  </a:t>
            </a: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Algorithm / Flowchart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33A0"/>
                </a:solidFill>
                <a:latin typeface="Times New Roman"/>
                <a:cs typeface="Times New Roman"/>
              </a:rPr>
              <a:t>10  </a:t>
            </a: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Implementation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33A0"/>
                </a:solidFill>
                <a:latin typeface="Times New Roman"/>
                <a:cs typeface="Times New Roman"/>
              </a:rPr>
              <a:t>11  </a:t>
            </a: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Testing and Results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33A0"/>
                </a:solidFill>
                <a:latin typeface="Times New Roman"/>
                <a:cs typeface="Times New Roman"/>
              </a:rPr>
              <a:t>12  </a:t>
            </a:r>
            <a:r>
              <a:rPr sz="1800" b="0" i="0">
                <a:solidFill>
                  <a:srgbClr val="000000"/>
                </a:solidFill>
                <a:latin typeface="Times New Roman"/>
                <a:cs typeface="Times New Roman"/>
              </a:rPr>
              <a:t>Conclusion, Future Work,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cs typeface="Times New Roman"/>
              </a:rPr>
              <a:t>The Inventory Management System (IMS) is a Java desktop application that helps a small shop keep records of products, categories, customers, users and sales orders in one place.</a:t>
            </a:r>
          </a:p>
          <a:p>
            <a:pPr algn="just"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cs typeface="Times New Roman"/>
              </a:rPr>
              <a:t>Users log in with a role (Super Admin or Admin), record products under categories, select a customer and add items to a cart. The system reduces stock automatically and generates a PDF bill.</a:t>
            </a:r>
          </a:p>
          <a:p>
            <a:pPr algn="just"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Times New Roman"/>
                <a:cs typeface="Times New Roman"/>
              </a:rPr>
              <a:t>Built with Java Swing (NetBeans), MySQL through JDBC, and the iText library for PDF bills, using a clean object-oriented structure (screen classes, dao and common packages).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 i="0">
                <a:solidFill>
                  <a:srgbClr val="000000"/>
                </a:solidFill>
                <a:latin typeface="Times New Roman"/>
                <a:cs typeface="Times New Roman"/>
              </a:rPr>
              <a:t>Small shops still keep stock and sales in paper registers or loose spreadsheets, which causes: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marL="285750" indent="-285750">
              <a:lnSpc>
                <a:spcPct val="125000"/>
              </a:lnSpc>
              <a:spcAft>
                <a:spcPts val="600"/>
              </a:spcAft>
              <a:buFont typeface="Arial"/>
              <a:buChar char="•"/>
            </a:pPr>
            <a:r>
              <a:rPr sz="1550" b="1" i="0">
                <a:solidFill>
                  <a:srgbClr val="000000"/>
                </a:solidFill>
                <a:latin typeface="Times New Roman"/>
                <a:cs typeface="Times New Roman"/>
              </a:rPr>
              <a:t>Time consumption: </a:t>
            </a:r>
            <a:r>
              <a:rPr sz="1550" b="0" i="0">
                <a:solidFill>
                  <a:srgbClr val="000000"/>
                </a:solidFill>
                <a:latin typeface="Times New Roman"/>
                <a:cs typeface="Times New Roman"/>
              </a:rPr>
              <a:t>searching products, customers or old bills and writing bills by hand is slow.</a:t>
            </a:r>
          </a:p>
          <a:p>
            <a:pPr algn="just" marL="285750" indent="-285750">
              <a:lnSpc>
                <a:spcPct val="125000"/>
              </a:lnSpc>
              <a:spcAft>
                <a:spcPts val="600"/>
              </a:spcAft>
              <a:buFont typeface="Arial"/>
              <a:buChar char="•"/>
            </a:pPr>
            <a:r>
              <a:rPr sz="1550" b="1" i="0">
                <a:solidFill>
                  <a:srgbClr val="000000"/>
                </a:solidFill>
                <a:latin typeface="Times New Roman"/>
                <a:cs typeface="Times New Roman"/>
              </a:rPr>
              <a:t>Redundancy and inconsistency: </a:t>
            </a:r>
            <a:r>
              <a:rPr sz="1550" b="0" i="0">
                <a:solidFill>
                  <a:srgbClr val="000000"/>
                </a:solidFill>
                <a:latin typeface="Times New Roman"/>
                <a:cs typeface="Times New Roman"/>
              </a:rPr>
              <a:t>the same details are repeated in many places.</a:t>
            </a:r>
          </a:p>
          <a:p>
            <a:pPr algn="just" marL="285750" indent="-285750">
              <a:lnSpc>
                <a:spcPct val="125000"/>
              </a:lnSpc>
              <a:spcAft>
                <a:spcPts val="600"/>
              </a:spcAft>
              <a:buFont typeface="Arial"/>
              <a:buChar char="•"/>
            </a:pPr>
            <a:r>
              <a:rPr sz="1550" b="1" i="0">
                <a:solidFill>
                  <a:srgbClr val="000000"/>
                </a:solidFill>
                <a:latin typeface="Times New Roman"/>
                <a:cs typeface="Times New Roman"/>
              </a:rPr>
              <a:t>Calculation errors: </a:t>
            </a:r>
            <a:r>
              <a:rPr sz="1550" b="0" i="0">
                <a:solidFill>
                  <a:srgbClr val="000000"/>
                </a:solidFill>
                <a:latin typeface="Times New Roman"/>
                <a:cs typeface="Times New Roman"/>
              </a:rPr>
              <a:t>manual totals and stock counts lead to wrong bills.</a:t>
            </a:r>
          </a:p>
          <a:p>
            <a:pPr algn="just" marL="285750" indent="-285750">
              <a:lnSpc>
                <a:spcPct val="125000"/>
              </a:lnSpc>
              <a:spcAft>
                <a:spcPts val="600"/>
              </a:spcAft>
              <a:buFont typeface="Arial"/>
              <a:buChar char="•"/>
            </a:pPr>
            <a:r>
              <a:rPr sz="1550" b="1" i="0">
                <a:solidFill>
                  <a:srgbClr val="000000"/>
                </a:solidFill>
                <a:latin typeface="Times New Roman"/>
                <a:cs typeface="Times New Roman"/>
              </a:rPr>
              <a:t>Poor tracking: </a:t>
            </a:r>
            <a:r>
              <a:rPr sz="1550" b="0" i="0">
                <a:solidFill>
                  <a:srgbClr val="000000"/>
                </a:solidFill>
                <a:latin typeface="Times New Roman"/>
                <a:cs typeface="Times New Roman"/>
              </a:rPr>
              <a:t>no easy order history per customer or live stock quantity.</a:t>
            </a:r>
          </a:p>
          <a:p>
            <a:pPr algn="just" marL="285750" indent="-285750">
              <a:lnSpc>
                <a:spcPct val="125000"/>
              </a:lnSpc>
              <a:spcAft>
                <a:spcPts val="600"/>
              </a:spcAft>
              <a:buFont typeface="Arial"/>
              <a:buChar char="•"/>
            </a:pPr>
            <a:r>
              <a:rPr sz="1550" b="1" i="0">
                <a:solidFill>
                  <a:srgbClr val="000000"/>
                </a:solidFill>
                <a:latin typeface="Times New Roman"/>
                <a:cs typeface="Times New Roman"/>
              </a:rPr>
              <a:t>No access control: </a:t>
            </a:r>
            <a:r>
              <a:rPr sz="1550" b="0" i="0">
                <a:solidFill>
                  <a:srgbClr val="000000"/>
                </a:solidFill>
                <a:latin typeface="Times New Roman"/>
                <a:cs typeface="Times New Roman"/>
              </a:rPr>
              <a:t>anyone can change records; owner and staff rights are not separated.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1650" b="0" i="0">
                <a:solidFill>
                  <a:srgbClr val="000000"/>
                </a:solidFill>
                <a:latin typeface="Times New Roman"/>
                <a:cs typeface="Times New Roman"/>
              </a:rPr>
              <a:t>To build a secure login module that allows only active users and shows menus according to the user role.</a:t>
            </a:r>
          </a:p>
          <a:p>
            <a:pPr algn="just"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1650" b="0" i="0">
                <a:solidFill>
                  <a:srgbClr val="000000"/>
                </a:solidFill>
                <a:latin typeface="Times New Roman"/>
                <a:cs typeface="Times New Roman"/>
              </a:rPr>
              <a:t>To manage users, categories, products and customers with validation of names, mobile numbers, e-mail, quantity and price.</a:t>
            </a:r>
          </a:p>
          <a:p>
            <a:pPr algn="just"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1650" b="0" i="0">
                <a:solidFill>
                  <a:srgbClr val="000000"/>
                </a:solidFill>
                <a:latin typeface="Times New Roman"/>
                <a:cs typeface="Times New Roman"/>
              </a:rPr>
              <a:t>To maintain product stock and reduce it automatically on every order, rejecting orders above available quantity.</a:t>
            </a:r>
          </a:p>
          <a:p>
            <a:pPr algn="just" marL="285750" indent="-285750">
              <a:lnSpc>
                <a:spcPct val="130000"/>
              </a:lnSpc>
              <a:spcAft>
                <a:spcPts val="800"/>
              </a:spcAft>
              <a:buFont typeface="Arial"/>
              <a:buChar char="•"/>
            </a:pPr>
            <a:r>
              <a:rPr sz="1650" b="0" i="0">
                <a:solidFill>
                  <a:srgbClr val="000000"/>
                </a:solidFill>
                <a:latin typeface="Times New Roman"/>
                <a:cs typeface="Times New Roman"/>
              </a:rPr>
              <a:t>To provide a cart-based order module that calculates totals, saves the order against a customer and generates a PDF bill.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  <a:cs typeface="Times New Roman"/>
              </a:rPr>
              <a:t>SCOPE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33A0"/>
                </a:solidFill>
                <a:latin typeface="Times New Roman"/>
                <a:cs typeface="Times New Roman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4160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marL="285750" indent="-28575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Seven modules: Login/Logout, User, Category, Product, Customer, Order (cart and billing) and View Order.</a:t>
            </a:r>
          </a:p>
          <a:p>
            <a:pPr algn="just" marL="285750" indent="-28575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Users: Super Admin (owner, all modules) and Admin (staff, no User module).</a:t>
            </a:r>
          </a:p>
          <a:p>
            <a:pPr algn="just" marL="285750" indent="-28575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Runs on a single computer with a local MySQL server.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914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33A0"/>
                </a:solidFill>
                <a:latin typeface="Times New Roman"/>
                <a:cs typeface="Times New Roman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371600"/>
            <a:ext cx="4160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marL="285750" indent="-28575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Desktop only; no web or multi-branch support.</a:t>
            </a:r>
          </a:p>
          <a:p>
            <a:pPr algn="just" marL="285750" indent="-28575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No suppliers, purchase orders, returns, discounts, tax or online payment.</a:t>
            </a:r>
          </a:p>
          <a:p>
            <a:pPr algn="just" marL="285750" indent="-28575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Passwords stored as plain text; no delete or search option.</a:t>
            </a:r>
          </a:p>
          <a:p>
            <a:pPr algn="just" marL="285750" indent="-285750">
              <a:lnSpc>
                <a:spcPct val="120000"/>
              </a:lnSpc>
              <a:spcAft>
                <a:spcPts val="600"/>
              </a:spcAft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PDF bills saved to a fixed D:\ folder (Windows).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  <a:cs typeface="Times New Roman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Incremental model: 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the system splits into independent modules, so a working core was delivered early and extended in stages.</a:t>
            </a:r>
          </a:p>
          <a:p>
            <a:pPr algn="l" marL="285750" indent="-28575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Increment 1: 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login and product management</a:t>
            </a:r>
          </a:p>
          <a:p>
            <a:pPr algn="l" marL="285750" indent="-28575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Increment 2: 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customer management</a:t>
            </a:r>
          </a:p>
          <a:p>
            <a:pPr algn="l" marL="285750" indent="-28575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Increment 3: 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order processing and PDF billing</a:t>
            </a:r>
          </a:p>
          <a:p>
            <a:pPr algn="l" marL="285750" indent="-28575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Increment 4: 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reports and improvements</a:t>
            </a:r>
          </a:p>
          <a:p>
            <a:pPr algn="l" marL="285750" indent="-285750">
              <a:lnSpc>
                <a:spcPct val="115000"/>
              </a:lnSpc>
              <a:spcAft>
                <a:spcPts val="500"/>
              </a:spcAft>
              <a:buFont typeface="Arial"/>
              <a:buChar char="•"/>
            </a:pP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Each increment: 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analysis, design, coding, unit testing, then integration testing with earlier increments.</a:t>
            </a:r>
          </a:p>
        </p:txBody>
      </p:sp>
      <p:pic>
        <p:nvPicPr>
          <p:cNvPr id="5" name="Picture 4" descr="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426829"/>
            <a:ext cx="4206240" cy="19012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63440" y="36118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0000"/>
                </a:solidFill>
                <a:latin typeface="Times New Roman"/>
                <a:cs typeface="Times New Roman"/>
              </a:rPr>
              <a:t>Incremental development: Build 1 to Build 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  <a:cs typeface="Times New Roman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8412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marL="285750" indent="-285750">
              <a:lnSpc>
                <a:spcPct val="110000"/>
              </a:lnSpc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000000"/>
                </a:solidFill>
                <a:latin typeface="Times New Roman"/>
                <a:cs typeface="Times New Roman"/>
              </a:rPr>
              <a:t>Inventory-control literature (Axsäter, Toomey, Mapes) stresses accurate stock records, timely replenishment and continuous monitoring, which a computerised system supports. [1]–[5]</a:t>
            </a:r>
          </a:p>
          <a:p>
            <a:pPr algn="just" marL="285750" indent="-285750">
              <a:lnSpc>
                <a:spcPct val="110000"/>
              </a:lnSpc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000000"/>
                </a:solidFill>
                <a:latin typeface="Times New Roman"/>
                <a:cs typeface="Times New Roman"/>
              </a:rPr>
              <a:t>Research gap: large systems are costly and complex, while small shops still rely on manual methods. IMS offers a simple, free, offline Java desktop option.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40280"/>
          <a:ext cx="8229597" cy="21762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35277"/>
                <a:gridCol w="1327354"/>
                <a:gridCol w="1504335"/>
                <a:gridCol w="1504335"/>
                <a:gridCol w="185829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</a:p>
                  </a:txBody>
                  <a:tcPr marL="54864" marR="54864" marT="22860" marB="22860" anchor="ctr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Spreadsheet</a:t>
                      </a:r>
                    </a:p>
                  </a:txBody>
                  <a:tcPr marL="54864" marR="54864" marT="22860" marB="22860" anchor="ctr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Zoho Inventory</a:t>
                      </a:r>
                    </a:p>
                  </a:txBody>
                  <a:tcPr marL="54864" marR="54864" marT="22860" marB="22860" anchor="ctr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Odoo Inventory</a:t>
                      </a:r>
                    </a:p>
                  </a:txBody>
                  <a:tcPr marL="54864" marR="54864" marT="22860" marB="22860" anchor="ctr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 IMS</a:t>
                      </a:r>
                    </a:p>
                  </a:txBody>
                  <a:tcPr marL="54864" marR="54864" marT="22860" marB="22860" anchor="ctr">
                    <a:solidFill>
                      <a:srgbClr val="0033A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Stock tracking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Manual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Yes (auto deduction)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PDF bill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Yes (iText)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User roles / login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Works offline on one PC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No (cloud)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Partly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Free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Subscription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License / sub.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Free tools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Setup for small shop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Easy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Medium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Complex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Easy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  <a:cs typeface="Times New Roman"/>
              </a:rPr>
              <a:t>SYSTEM ANALYSIS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99405"/>
            <a:ext cx="3749039" cy="33961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4348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0000"/>
                </a:solidFill>
                <a:latin typeface="Times New Roman"/>
                <a:cs typeface="Times New Roman"/>
              </a:rPr>
              <a:t>Use case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96012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1250" b="1" i="0">
                <a:solidFill>
                  <a:srgbClr val="000000"/>
                </a:solidFill>
                <a:latin typeface="Times New Roman"/>
                <a:cs typeface="Times New Roman"/>
              </a:rPr>
              <a:t>Login: </a:t>
            </a:r>
            <a:r>
              <a:rPr sz="1250" b="0" i="0">
                <a:solidFill>
                  <a:srgbClr val="000000"/>
                </a:solidFill>
                <a:latin typeface="Times New Roman"/>
                <a:cs typeface="Times New Roman"/>
              </a:rPr>
              <a:t>e-mail and password; only Active users.</a:t>
            </a:r>
          </a:p>
          <a:p>
            <a:pPr algn="l" marL="285750" indent="-28575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1250" b="1" i="0">
                <a:solidFill>
                  <a:srgbClr val="000000"/>
                </a:solidFill>
                <a:latin typeface="Times New Roman"/>
                <a:cs typeface="Times New Roman"/>
              </a:rPr>
              <a:t>Users: </a:t>
            </a:r>
            <a:r>
              <a:rPr sz="1250" b="0" i="0">
                <a:solidFill>
                  <a:srgbClr val="000000"/>
                </a:solidFill>
                <a:latin typeface="Times New Roman"/>
                <a:cs typeface="Times New Roman"/>
              </a:rPr>
              <a:t>add, update, set status (Super Admin only).</a:t>
            </a:r>
          </a:p>
          <a:p>
            <a:pPr algn="l" marL="285750" indent="-28575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1250" b="1" i="0">
                <a:solidFill>
                  <a:srgbClr val="000000"/>
                </a:solidFill>
                <a:latin typeface="Times New Roman"/>
                <a:cs typeface="Times New Roman"/>
              </a:rPr>
              <a:t>Category / Product / Customer: </a:t>
            </a:r>
            <a:r>
              <a:rPr sz="1250" b="0" i="0">
                <a:solidFill>
                  <a:srgbClr val="000000"/>
                </a:solidFill>
                <a:latin typeface="Times New Roman"/>
                <a:cs typeface="Times New Roman"/>
              </a:rPr>
              <a:t>add, view, update; stock top-up.</a:t>
            </a:r>
          </a:p>
          <a:p>
            <a:pPr algn="l" marL="285750" indent="-28575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1250" b="1" i="0">
                <a:solidFill>
                  <a:srgbClr val="000000"/>
                </a:solidFill>
                <a:latin typeface="Times New Roman"/>
                <a:cs typeface="Times New Roman"/>
              </a:rPr>
              <a:t>Order: </a:t>
            </a:r>
            <a:r>
              <a:rPr sz="1250" b="0" i="0">
                <a:solidFill>
                  <a:srgbClr val="000000"/>
                </a:solidFill>
                <a:latin typeface="Times New Roman"/>
                <a:cs typeface="Times New Roman"/>
              </a:rPr>
              <a:t>stock check, cart, total, save, PDF bill.</a:t>
            </a:r>
          </a:p>
          <a:p>
            <a:pPr algn="l" marL="285750" indent="-28575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1250" b="1" i="0">
                <a:solidFill>
                  <a:srgbClr val="000000"/>
                </a:solidFill>
                <a:latin typeface="Times New Roman"/>
                <a:cs typeface="Times New Roman"/>
              </a:rPr>
              <a:t>View Order: </a:t>
            </a:r>
            <a:r>
              <a:rPr sz="1250" b="0" i="0">
                <a:solidFill>
                  <a:srgbClr val="000000"/>
                </a:solidFill>
                <a:latin typeface="Times New Roman"/>
                <a:cs typeface="Times New Roman"/>
              </a:rPr>
              <a:t>customer-wise history and bills.</a:t>
            </a:r>
          </a:p>
          <a:p>
            <a:pPr algn="l" marL="285750" indent="-28575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1250" b="1" i="0">
                <a:solidFill>
                  <a:srgbClr val="000000"/>
                </a:solidFill>
                <a:latin typeface="Times New Roman"/>
                <a:cs typeface="Times New Roman"/>
              </a:rPr>
              <a:t>Non-functional: </a:t>
            </a:r>
            <a:r>
              <a:rPr sz="1250" b="0" i="0">
                <a:solidFill>
                  <a:srgbClr val="000000"/>
                </a:solidFill>
                <a:latin typeface="Times New Roman"/>
                <a:cs typeface="Times New Roman"/>
              </a:rPr>
              <a:t>validation, error handling, usability, portability.</a:t>
            </a:r>
          </a:p>
          <a:p>
            <a:pPr algn="l" marL="285750" indent="-28575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1250" b="1" i="0">
                <a:solidFill>
                  <a:srgbClr val="000000"/>
                </a:solidFill>
                <a:latin typeface="Times New Roman"/>
                <a:cs typeface="Times New Roman"/>
              </a:rPr>
              <a:t>Feasibility: </a:t>
            </a:r>
            <a:r>
              <a:rPr sz="1250" b="0" i="0">
                <a:solidFill>
                  <a:srgbClr val="000000"/>
                </a:solidFill>
                <a:latin typeface="Times New Roman"/>
                <a:cs typeface="Times New Roman"/>
              </a:rPr>
              <a:t>free tools, ordinary PC, one-semester schedule.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  <a:cs typeface="Times New Roman"/>
              </a:rPr>
              <a:t>SYSTEM DESIGN</a:t>
            </a:r>
          </a:p>
        </p:txBody>
      </p:sp>
      <p:pic>
        <p:nvPicPr>
          <p:cNvPr id="4" name="Picture 3" descr="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10" y="914400"/>
            <a:ext cx="3903578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000000"/>
                </a:solidFill>
                <a:latin typeface="Times New Roman"/>
                <a:cs typeface="Times New Roman"/>
              </a:rPr>
              <a:t>2-tier architecture: Swing + JDBC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52044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ct val="105000"/>
              </a:lnSpc>
              <a:spcAft>
                <a:spcPts val="300"/>
              </a:spcAft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Times New Roman"/>
                <a:cs typeface="Times New Roman"/>
              </a:rPr>
              <a:t>Database "inventory": 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5 tables - appuser, category, product, customer, orderDetail.</a:t>
            </a:r>
          </a:p>
          <a:p>
            <a:pPr algn="l" marL="285750" indent="-285750">
              <a:lnSpc>
                <a:spcPct val="105000"/>
              </a:lnSpc>
              <a:spcAft>
                <a:spcPts val="300"/>
              </a:spcAft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Times New Roman"/>
                <a:cs typeface="Times New Roman"/>
              </a:rPr>
              <a:t>Relations: 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category 1:N product; customer 1:N orderDetail.</a:t>
            </a:r>
          </a:p>
          <a:p>
            <a:pPr algn="l" marL="285750" indent="-285750">
              <a:lnSpc>
                <a:spcPct val="105000"/>
              </a:lnSpc>
              <a:spcAft>
                <a:spcPts val="300"/>
              </a:spcAft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Times New Roman"/>
                <a:cs typeface="Times New Roman"/>
              </a:rPr>
              <a:t>Normalised 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up to Third Normal Form.</a:t>
            </a:r>
          </a:p>
        </p:txBody>
      </p:sp>
      <p:pic>
        <p:nvPicPr>
          <p:cNvPr id="7" name="Picture 6" descr="image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654" y="868680"/>
            <a:ext cx="2547011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42519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000000"/>
                </a:solidFill>
                <a:latin typeface="Times New Roman"/>
                <a:cs typeface="Times New Roman"/>
              </a:rPr>
              <a:t>ER diagram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  <a:cs typeface="Times New Roman"/>
              </a:rPr>
              <a:t>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marL="285750" indent="-28575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Add to cart: 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sub-total = quantity x price; reject if quantity exceeds stock or product already in cart; update running total.</a:t>
            </a:r>
          </a:p>
          <a:p>
            <a:pPr algn="just" marL="285750" indent="-28575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Save order: 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generate bill id "Bill-" + nanoTime; reduce stock of each cart item; insert into orderDetail; create and open the PDF; reset screen.</a:t>
            </a:r>
          </a:p>
          <a:p>
            <a:pPr algn="just" marL="285750" indent="-285750">
              <a:lnSpc>
                <a:spcPct val="115000"/>
              </a:lnSpc>
              <a:spcAft>
                <a:spcPts val="700"/>
              </a:spcAft>
              <a:buFont typeface="Arial"/>
              <a:buChar char="•"/>
            </a:pPr>
            <a:r>
              <a:rPr sz="1350" b="1" i="0">
                <a:solidFill>
                  <a:srgbClr val="000000"/>
                </a:solidFill>
                <a:latin typeface="Times New Roman"/>
                <a:cs typeface="Times New Roman"/>
              </a:rPr>
              <a:t>Login: </a:t>
            </a: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validate e-mail with regex, query appuser for an Active user, open Home with the role.</a:t>
            </a:r>
          </a:p>
        </p:txBody>
      </p:sp>
      <p:pic>
        <p:nvPicPr>
          <p:cNvPr id="5" name="Picture 4" descr="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502920"/>
            <a:ext cx="2743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  <a:cs typeface="Times New Roman"/>
              </a:rPr>
              <a:t>IMPLEMENTATION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8229600" cy="30723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74620"/>
                <a:gridCol w="55549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 / Concept</a:t>
                      </a:r>
                    </a:p>
                  </a:txBody>
                  <a:tcPr marL="54864" marR="54864" marT="22860" marB="22860" anchor="ctr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Purpose / Use</a:t>
                      </a:r>
                    </a:p>
                  </a:txBody>
                  <a:tcPr marL="54864" marR="54864" marT="22860" marB="22860" anchor="ctr">
                    <a:solidFill>
                      <a:srgbClr val="0033A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Java (JDK), Apache NetBeans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Application development; Swing GUI builder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MySQL + Connector/J 8.0.20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Database storage via JDBC (PreparedStatement, joins)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iText library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Generates the PDF bill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Swing + event handling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JFrame, JTable, JComboBox, JOptionPane; row-click and button events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OOP concepts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Inheritance (screens extend JFrame), constructor overloading, packages dao / common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Validation + exceptions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Regex checks (mobile 97/98 + 10 digits, e-mail); try-catch dialogs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Graphviz / Git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UML, ER and flow diagrams; version control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  <a:cs typeface="Times New Roman"/>
              </a:rPr>
              <a:t>TESTING AND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5120636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80259"/>
                <a:gridCol w="1280159"/>
                <a:gridCol w="1120139"/>
                <a:gridCol w="64007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Test</a:t>
                      </a:r>
                    </a:p>
                  </a:txBody>
                  <a:tcPr marL="54864" marR="54864" marT="22860" marB="22860" anchor="ctr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Input</a:t>
                      </a:r>
                    </a:p>
                  </a:txBody>
                  <a:tcPr marL="54864" marR="54864" marT="22860" marB="22860" anchor="ctr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Expected</a:t>
                      </a:r>
                    </a:p>
                  </a:txBody>
                  <a:tcPr marL="54864" marR="54864" marT="22860" marB="22860" anchor="ctr">
                    <a:solidFill>
                      <a:srgbClr val="0033A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Result</a:t>
                      </a:r>
                    </a:p>
                  </a:txBody>
                  <a:tcPr marL="54864" marR="54864" marT="22860" marB="22860" anchor="ctr">
                    <a:solidFill>
                      <a:srgbClr val="0033A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Name accepts letters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Ram Sharma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Accepted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Mobile must start 97/98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9641234567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Rejected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E-mail without @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admin.mail.com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Rejected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Negative quantity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-5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Rejected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Decimal price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499.50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Accepted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Non-numeric order quantity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abc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Error message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Fail</a:t>
                      </a:r>
                    </a:p>
                  </a:txBody>
                  <a:tcPr marL="54864" marR="54864" marT="22860" marB="22860" anchor="ctr"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720" y="91440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85750" indent="-285750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Times New Roman"/>
                <a:cs typeface="Times New Roman"/>
              </a:rPr>
              <a:t>17 of 18 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unit tests passed.</a:t>
            </a:r>
          </a:p>
          <a:p>
            <a:pPr algn="l" marL="285750" indent="-285750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Times New Roman"/>
                <a:cs typeface="Times New Roman"/>
              </a:rPr>
              <a:t>Failed case (U18): 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parseInt() is outside the try block, so a non-numeric quantity throws an exception without a message.</a:t>
            </a:r>
          </a:p>
          <a:p>
            <a:pPr algn="l" marL="285750" indent="-285750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Times New Roman"/>
                <a:cs typeface="Times New Roman"/>
              </a:rPr>
              <a:t>11 system tests 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prepared (login, stock limit, duplicate cart item, order and PDF, roles, logout).</a:t>
            </a:r>
          </a:p>
          <a:p>
            <a:pPr algn="l" marL="285750" indent="-285750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Times New Roman"/>
                <a:cs typeface="Times New Roman"/>
              </a:rPr>
              <a:t>Result: </a:t>
            </a:r>
            <a:r>
              <a:rPr sz="1200" b="0" i="0">
                <a:solidFill>
                  <a:srgbClr val="000000"/>
                </a:solidFill>
                <a:latin typeface="Times New Roman"/>
                <a:cs typeface="Times New Roman"/>
              </a:rPr>
              <a:t>all objectives met; exception handling needs improvement.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  <a:cs typeface="Times New Roman"/>
              </a:rPr>
              <a:t>CONCLUSION AND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33A0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marL="285750" indent="-28575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IMS replaces manual stock and billing records with a database-driven desktop application.</a:t>
            </a:r>
          </a:p>
          <a:p>
            <a:pPr algn="just" marL="285750" indent="-28575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It provides role-based login, master-data management, a stock-checking cart, order history and PDF bills.</a:t>
            </a:r>
          </a:p>
          <a:p>
            <a:pPr algn="just" marL="285750" indent="-28575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The team applied Java OOP, Swing, JDBC, regex validation, file output, UML modelling and testing.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868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33A0"/>
                </a:solidFill>
                <a:latin typeface="Times New Roman"/>
                <a:cs typeface="Times New Roman"/>
              </a:rP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280160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marL="285750" indent="-28575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Times New Roman"/>
                <a:cs typeface="Times New Roman"/>
              </a:rPr>
              <a:t>Security: </a:t>
            </a: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hashed passwords, PreparedStatement for login, config-based credentials.</a:t>
            </a:r>
          </a:p>
          <a:p>
            <a:pPr algn="just" marL="285750" indent="-28575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Times New Roman"/>
                <a:cs typeface="Times New Roman"/>
              </a:rPr>
              <a:t>Reliability: </a:t>
            </a: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database transactions, foreign keys, safe numeric input.</a:t>
            </a:r>
          </a:p>
          <a:p>
            <a:pPr algn="just" marL="285750" indent="-28575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Times New Roman"/>
                <a:cs typeface="Times New Roman"/>
              </a:rPr>
              <a:t>Features: </a:t>
            </a: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search, delete, low-stock alerts, suppliers, discounts and tax.</a:t>
            </a:r>
          </a:p>
          <a:p>
            <a:pPr algn="just" marL="285750" indent="-28575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Times New Roman"/>
                <a:cs typeface="Times New Roman"/>
              </a:rPr>
              <a:t>Reports: </a:t>
            </a: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daily sales and stock export to PDF or Excel.</a:t>
            </a:r>
          </a:p>
          <a:p>
            <a:pPr algn="just" marL="285750" indent="-28575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Times New Roman"/>
                <a:cs typeface="Times New Roman"/>
              </a:rPr>
              <a:t>Platform: </a:t>
            </a:r>
            <a:r>
              <a:rPr sz="1300" b="0" i="0">
                <a:solidFill>
                  <a:srgbClr val="000000"/>
                </a:solidFill>
                <a:latin typeface="Times New Roman"/>
                <a:cs typeface="Times New Roman"/>
              </a:rPr>
              <a:t>web or mobile version with a cloud database.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5603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[1] S. Axsäter, Inventory Control, Springer New York, 2000.</a:t>
            </a:r>
          </a:p>
          <a:p>
            <a:pPr>
              <a:spcAft>
                <a:spcPts val="8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[2] J. W. Toomey, Inventory Management: Principles, Concepts and Techniques, Springer New York, 2024.</a:t>
            </a:r>
          </a:p>
          <a:p>
            <a:pPr>
              <a:spcAft>
                <a:spcPts val="8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[3] J. Mapes, Inventory Control Systems, Wiley Encyclopedia of Management, John Wiley &amp; Sons, 2020.</a:t>
            </a:r>
          </a:p>
          <a:p>
            <a:pPr>
              <a:spcAft>
                <a:spcPts val="8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[4] S. Axsäter, Inventory Control, 3rd Edition, Springer International Publishing, 2015.</a:t>
            </a:r>
          </a:p>
          <a:p>
            <a:pPr>
              <a:spcAft>
                <a:spcPts val="8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[5] C. D. K. Snook, Inventory Management: Principles and Practices, Routledge, 2019.</a:t>
            </a:r>
          </a:p>
          <a:p>
            <a:pPr>
              <a:spcAft>
                <a:spcPts val="8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[6] Zoho Corporation, Zoho Inventory - Online Inventory Management Software, 2026.</a:t>
            </a:r>
          </a:p>
          <a:p>
            <a:pPr>
              <a:spcAft>
                <a:spcPts val="800"/>
              </a:spcAft>
            </a:pPr>
            <a:r>
              <a:rPr sz="1350" b="0" i="0">
                <a:solidFill>
                  <a:srgbClr val="000000"/>
                </a:solidFill>
                <a:latin typeface="Times New Roman"/>
                <a:cs typeface="Times New Roman"/>
              </a:rPr>
              <a:t>[7] Odoo S.A., Odoo Inventory - Inventory Management Software,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82880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33A0"/>
                </a:solidFill>
                <a:latin typeface="Times New Roman"/>
                <a:cs typeface="Times New Roman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6974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  <a:cs typeface="Times New Roman"/>
              </a:rPr>
              <a:t>Inventory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675</Words>
  <Application>Microsoft Office PowerPoint</Application>
  <PresentationFormat>On-screen Show (16:9)</PresentationFormat>
  <Paragraphs>73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Roboto Medium</vt:lpstr>
      <vt:lpstr>Roboto Mono SemiBold</vt:lpstr>
      <vt:lpstr>Segoe UI</vt:lpstr>
      <vt:lpstr>Times New Roman</vt:lpstr>
      <vt:lpstr>Tw Cen MT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 bista</cp:lastModifiedBy>
  <cp:revision>4</cp:revision>
  <dcterms:created xsi:type="dcterms:W3CDTF">2026-07-20T17:32:57Z</dcterms:created>
  <dcterms:modified xsi:type="dcterms:W3CDTF">2026-07-21T04:26:25Z</dcterms:modified>
</cp:coreProperties>
</file>